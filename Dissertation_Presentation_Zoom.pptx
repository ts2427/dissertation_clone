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Data Breach Disclosure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&amp; Market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Core Discovery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Markets Punish: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WHO YOU ARE</a:t>
            </a:r>
            <a:br/>
            <a:r>
              <a:t>&amp; WHAT WAS BREACHED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NOT disclosure timing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Timing Paradox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Timing does NOT affect shareholder returns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Timing INCREASES market uncertainty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Timing ACCELERATES governance response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Regulation creates costs without valuation benefits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1,054 breaches (2006-2025)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926 firms with stock price data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200 FCC-regulated | 854 non-FCC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442 repeat offenders (42%)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Research Design: FCC Natural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FCC Rule 37.3: January 1, 2007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7-day mandate for telecom firms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Control: All other industries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Validation: Effect emerges post-2007, strengthens with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H1: Does Timing Affect Returns?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Timing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+0.57%</a:t>
            </a:r>
            <a:br/>
            <a:r>
              <a:t>(p=0.539)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NOT significant. Equivalence test confirms genuine null, not power shortage.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What H1 Null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Markets are indifferent to disclosure speed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Fast disclosure ≠ lower shareholder losses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Slow disclosure ≠ higher shareholder losses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Refutes core regulatory assumption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H2: Does FCC Regulation Cost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FCC Regulatory Penalty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-2.20%</a:t>
            </a:r>
            <a:br/>
            <a:r>
              <a:t>CAR (p=0.010)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Significant market penalty for regulatory burden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FCC Cost: Per Breach vs. Aggregate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solidFill>
            <a:srgbClr val="C00000"/>
          </a:solidFill>
          <a:ln w="381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Per Breach</a:t>
            </a:r>
            <a:br/>
            <a:r>
              <a:t>(Median Firm)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-$0.9M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solidFill>
            <a:srgbClr val="C00000"/>
          </a:solidFill>
          <a:ln w="381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Aggregate</a:t>
            </a:r>
            <a:br/>
            <a:r>
              <a:t>(187 breaches)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9260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-$0.76B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H3: Prior Breach History (STRONGEST EFFECT)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 Prior Breach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-0.22%</a:t>
            </a:r>
            <a:br/>
            <a:r>
              <a:t>(p&lt;0.001)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Reputational accumulation. A firm with 5 prior breaches faces -1.1% additional penalty.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H4: Does Health Data Cost More?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Health Breach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-2.51%</a:t>
            </a:r>
            <a:br/>
            <a:r>
              <a:t>CAR (p=0.004)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Market-equivalent penalty to FCC regulatory burden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Essay 1: What Drives Market Returns?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Prior Breaches: -0.22% per breach ★★★ STRONGEST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FCC Regulation: -2.20% ★★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Health Breach: -2.51% ★★★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Timing: +0.57% (NOT significant)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H5: Does Mandatory Timing Increase Uncertainty?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Volatility Increase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+1.68%</a:t>
            </a:r>
            <a:br/>
            <a:r>
              <a:t>to +5.02%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Paradoxical: Speed mandate INCREASES uncertainty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Why Forced Speed Increases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7-day deadline forces disclosure before investigation complete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Incomplete disclosure ("investigation ongoing") signals quality problems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Markets see uncertainty, raise volatility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Speed success ≠ Quality success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Volatility Effect by Firm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solidFill>
            <a:srgbClr val="C00000"/>
          </a:solidFill>
          <a:ln w="381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Small Firms</a:t>
            </a:r>
            <a:br/>
            <a:r>
              <a:t>(Q1)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+7.31%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solidFill>
            <a:srgbClr val="00B050"/>
          </a:solidFill>
          <a:ln w="381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Large Firms</a:t>
            </a:r>
            <a:br/>
            <a:r>
              <a:t>(Q4)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9260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-3.39%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What Size Difference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Small firms: Capacity constraint. Cannot investigate AND disclose rapidly.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Large firms: Can accommodate rapid disclosure without quality loss.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Regulatory timing interacts with organizational capacity.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One-size-fits-all rule may harm smaller firms.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H6: Does Mandatory Disclosure Trigger Governance Changes?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Turnover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+5.3 pp</a:t>
            </a:r>
            <a:br/>
            <a:r>
              <a:t>(50.6% vs 45.3%)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Immediate disclosure accelerates executive departures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Governance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Mandatory disclosure activates stakeholder pressure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Boards respond with executive changes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Turnover serves as accountability signal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Self-response (46%) &gt;&gt; regulatory enforcement (0.6%)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Three Mechanisms Operating Independently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Essay 1: Timing irrelevant to valuation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Essay 2: Timing increases uncertainty via quality loss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Essay 3: Timing accelerates governance response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Mediation test proves independence (volatility does NOT mediate governance)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Cost of Capital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Volatility-Induced Annual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+$3-4M</a:t>
            </a:r>
            <a:br/>
            <a:r>
              <a:t>per $1B debt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39bp volatility increase for large refinancing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Governance Disruption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 Executive Departure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$12-25M</a:t>
            </a:r>
            <a:br/>
            <a:r>
              <a:t>(total: direct + indirect)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416 breaches with 30-day turnover = $0.39-0.98B aggregate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Total FCC Regulation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Aggregate Economic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$1.25-1.94B</a:t>
            </a:r>
            <a:br/>
            <a:r>
              <a:t>across three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Valuation ($0.76B) + Cost of Capital + Governance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FCC 7-Day Rule: Policy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Current rule generates $0.76B costs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Timing has no valuation benefit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Forced speed creates quality problems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Recommend: Extend to 14-21 days for investigation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SEC 4-Day Rule: Similar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SEC explicitly asked for validation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This dissertation provides evidence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4-day requirement faces identical paradoxes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Recommend: Evaluate 18-24 months post-implementation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Optimal Timeline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Too fast (7 days): Forces incomplete disclosure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Too slow (unregulated): Allows information advantage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Optimal (45-60 days): Allows investigation + stakeholder communication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HIPAA's 60-day window likely superior to FCC's 7-day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Why These Findings Are Solid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✓ 27+ robustness specifications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✓ Mediation analysis (mechanisms independent)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✓ Temporal validation (pre/post-2007 test)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✓ Machine learning confirms feature importance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Five Main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1. Timing does NOT reduce shareholder losses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2. Mandatory speed INCREASES market uncertainty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3. Regulation ACCELERATES governance response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4. Economic cost: $0.76B-$1.94B (aggregate)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5. Consider 45-60 day timelines instead of 7 days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Next: Dashboard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Interactive filtering by: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• Firm size, FCC status, breach type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• Main results with confidence intervals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• Validation tests (pre/post, industry controls)</a:t>
            </a:r>
          </a:p>
          <a:p>
            <a:pPr>
              <a:spcBef>
                <a:spcPts val="1600"/>
              </a:spcBef>
              <a:spcAft>
                <a:spcPts val="1600"/>
              </a:spcAft>
              <a:defRPr sz="2400">
                <a:solidFill>
                  <a:srgbClr val="595959"/>
                </a:solidFill>
              </a:defRPr>
            </a:pPr>
            <a:r>
              <a:t>• Economic significance calculator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Dashboard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