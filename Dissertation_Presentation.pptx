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Data Breach Disclosure Timing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F81BD"/>
                </a:solidFill>
              </a:defRPr>
            </a:pPr>
            <a:r>
              <a:t>&amp; Market Outcomes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Problem: Regulatory Assumptions Without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FCC mandates 7-day breach disclosure (Rule 37.3, 2007)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SEC mandates 4-day disclosure (2023 rule)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HIPAA mandates 60-day disclosure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All based on assumption: Faster = Better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But: NO causal evidence exists that speed creates benefits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Why This Research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For Regulators: FCC rule generates $0.76B in shareholder losses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For Companies: Disclosure timing is a strategic decision affecting shareholders, employees, customers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For Theory: Information asymmetry theory predicts timing effects, but does it hold?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For Markets: Do investors reward speed or penalize incomplete disclosures?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What Prior Research Shows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Event Studies: Breaches cause −0.41% to −2.1% returns (Cavusoglu 2004, Acquisti 2006)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Paradox: Mandatory disclosure laws increase crash risk 5−7% (Obaydin et al. 2024)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Theory Gap: Diamond &amp; Verrecchia (1991) warns forced disclosure can INCREASE asymmetry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Missing: Clean causal evidence separating timing effects from firm quality signals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Dataset: 1,054 Breaches (2006-2025)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926 breaches with stock price data (Essay 1)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916 breaches with volatility data (Essay 2)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896 breaches with executive change data (Essay 3)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200 FCC-regulated firms (19%) | 854 non-FCC (81%)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442 repeat offenders (41.9% with prior breach history)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Causal Identification: FCC Rule 37.3 Natural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FCC Rule effective January 1, 2007: 7-day mandate for telecom (SIC 4813, 4899, 4841)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Control: All other industries under state-level rules (30−90 day timelines)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Sharp regulatory discontinuity creates quasi-experimental variation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Can compare FCC vs. non-FCC breach outcomes before/after 2007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Three Tests Validate Causal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Test 1 (Temporal): FCC effect zero pre-2007 (p=0.88), emerges post-2007 (p=0.0125) ✓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Test 2 (Controls): Effect strengthens with industry FE (−2.20% → −5.37%), not selection ✓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Test 3 (Size Heterogeneity): FCC effects concentrated in small firms (−6.22%), null in large ✓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Multi-outcome consistency: FCC affects returns, volatility, AND governance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H1: Does Timing Affect Shareholder Returns?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6400800" cy="2560320"/>
          </a:xfrm>
          <a:prstGeom prst="rect">
            <a:avLst/>
          </a:prstGeom>
          <a:solidFill>
            <a:srgbClr val="4F81BD"/>
          </a:solidFill>
          <a:ln w="508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Timing Coefficient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6400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+0.57%</a:t>
            </a:r>
            <a:br/>
            <a:r>
              <a:t>(p=0.539)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595959"/>
                </a:solidFill>
              </a:defRPr>
            </a:pPr>
            <a:r>
              <a:t>NOT significant. Markets are indifferent to disclosure speed. Equivalence test confirms genuine null.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H1 Null: What It 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Disclosure speed does NOT predict shareholder losses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Fast disclosure ≠ lower shareholder penalty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Slow disclosure ≠ higher shareholder penalty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Refutes core regulatory assumption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Markets efficiently price breach fundamentals regardless of timing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H2: Does FCC Regulation Cost Money?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6400800" cy="2560320"/>
          </a:xfrm>
          <a:prstGeom prst="rect">
            <a:avLst/>
          </a:prstGeom>
          <a:solidFill>
            <a:srgbClr val="4F81BD"/>
          </a:solidFill>
          <a:ln w="508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FCC Regulatory Penalty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6400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-2.20%</a:t>
            </a:r>
            <a:br/>
            <a:r>
              <a:t>CAR (p=0.010)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595959"/>
                </a:solidFill>
              </a:defRPr>
            </a:pPr>
            <a:r>
              <a:t>Significant market penalty. FCC-regulated firms experience ~$4.0M average loss per breach.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H3: Reputation Accumulation (STRONGEST EFFECT)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6400800" cy="2560320"/>
          </a:xfrm>
          <a:prstGeom prst="rect">
            <a:avLst/>
          </a:prstGeom>
          <a:solidFill>
            <a:srgbClr val="4F81BD"/>
          </a:solidFill>
          <a:ln w="508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Per Prior Breach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6400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-0.22%</a:t>
            </a:r>
            <a:br/>
            <a:r>
              <a:t>(p&lt;0.001)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595959"/>
                </a:solidFill>
              </a:defRPr>
            </a:pPr>
            <a:r>
              <a:t>A firm with 5 prior breaches faces −1.1% additional penalty on the next breach.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H4: Does Health Data Cost More?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6400800" cy="2560320"/>
          </a:xfrm>
          <a:prstGeom prst="rect">
            <a:avLst/>
          </a:prstGeom>
          <a:solidFill>
            <a:srgbClr val="4F81BD"/>
          </a:solidFill>
          <a:ln w="508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Health Breach Premium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6400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-2.51%</a:t>
            </a:r>
            <a:br/>
            <a:r>
              <a:t>CAR (p=0.004)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595959"/>
                </a:solidFill>
              </a:defRPr>
            </a:pPr>
            <a:r>
              <a:t>Health breaches produce nearly identical market penalty to FCC regulatory burden.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H5: Does Mandatory Timing Increase Uncertainty?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6400800" cy="2560320"/>
          </a:xfrm>
          <a:prstGeom prst="rect">
            <a:avLst/>
          </a:prstGeom>
          <a:solidFill>
            <a:srgbClr val="4F81BD"/>
          </a:solidFill>
          <a:ln w="508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Volatility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6400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+1.68%</a:t>
            </a:r>
            <a:br/>
            <a:r>
              <a:t>to +5.02%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595959"/>
                </a:solidFill>
              </a:defRPr>
            </a:pPr>
            <a:r>
              <a:t>Paradoxical: Forced speed requirement INCREASES market uncertainty instead of decreasing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Why Forced Speed Increases Uncertainty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7-day deadline forces disclosure before investigation completion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Incomplete disclosure ("investigation ongoing") signals quality problems to markets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Markets respond with higher volatility, not lower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Small firms most affected (+7.31%***); large firms absorb speed (−3.39%**)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Regulatory timing FAILS at information quality goal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H6: Does Mandatory Disclosure Trigger Governance Changes?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6400800" cy="2560320"/>
          </a:xfrm>
          <a:prstGeom prst="rect">
            <a:avLst/>
          </a:prstGeom>
          <a:solidFill>
            <a:srgbClr val="4F81BD"/>
          </a:solidFill>
          <a:ln w="508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Turnover Acceleration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6400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+5.3pp</a:t>
            </a:r>
            <a:br/>
            <a:r>
              <a:t>(50.6% vs 45.3%)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595959"/>
                </a:solidFill>
              </a:defRPr>
            </a:pPr>
            <a:r>
              <a:t>Immediate disclosure accelerates executive departures via stakeholder pressure activation.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Governance Response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Mandatory disclosure makes regulator a "definitive" stakeholder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Boards respond with executive changes as accountability signal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46.4% of breaches experience 30-day turnover (416 breaches)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Governance self-response &gt;&gt; regulatory enforcement (50:1 ratio, 46% vs 0.6%)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This operates independently of information content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Three Mechanisms Operate Independently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Essay 1 (Valuation): Timing irrelevant → markets price firm characteristics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Essay 2 (Uncertainty): Timing increases volatility → forced speed reduces quality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Essay 3 (Governance): Timing accelerates turnover → stakeholder pressure, not info quality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Mediation test: Volatility does NOT mediate governance (p=0.484)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Essays 2 &amp; 3 are completely separate channels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Size Heterogeneity: Reveals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Market Returns (Essay 1): FCC penalty concentrated in small firms (Q1: −6.22%)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Volatility (Essay 2): OPPOSITE pattern - small firms +7.31%, large firms −3.39%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Governance (Essay 3): U-shaped by size (medium firms most responsive)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Interpretation: Information processing capacity constraints. Small firms can't investigate rapidly AND disclose completely.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27+ Robustness Specifications Support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✓ 4 event windows (1d, 5d, 10d, 30d) - consistent patterns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✓ 7 timing thresholds - H1 null holds across all definitions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✓ 8 subsamples (FCC, non-FCC, health, financial, etc.) - effects robust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✓ 6 SE methods (HC3, clustered, double-clustered) - not sensitive to specification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✓ Machine learning validation: Prior breach history #1 feature importance, timing much lower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Economic Significance: FCC Regulation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Per breach (median firm): −$0.9M shareholder loss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Aggregate (187 FCC-regulated breaches): −$0.76 BILLION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Cost of capital increase: +39bp volatility = +$3−4M annually per $1B debt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Governance disruption: $12−25M per executive departure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Total: $1.25−1.94B across all mechanisms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FCC 7-Day Rule: Policy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Current rule achieves SPEED goal: Forces faster disclosure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But FAILS QUALITY goal: Forced speed prevents thorough investigation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Market consequence: $0.76B shareholder losses without valuation benefits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Recommendation: Extend to 14−21 days to allow investigation completion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Alternative: Conditional disclosure ("preliminary findings pending investigation")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SEC 4-Day Cybersecurity Rule (2023): Identical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SEC explicitly requested empirical validation before implementation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This dissertation provides that evidence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SEC rule faces same paradoxes as FCC: speed vs. quality tradeoff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Recommendation: Implement with built-in 18−24 month evaluation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Budget IT systems for rapid investigation capability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Optimal Disclosure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Too Fast (7 days): Forces incomplete disclosure → increases uncertainty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Too Slow (unregulated): Allows information asymmetry advantage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Optimal (45−60 days): Allows investigation completion + stakeholder communication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Evidence: HIPAA's 60-day window likely superior to FCC's 7-day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Stakeholder research (Xu et al. 2024): Prefer completeness over speed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For Breached Companies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Early disclosure accelerates governance response (H6 effect)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Early disclosure does NOT reduce shareholder market losses (H1 null)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Optimal strategy: Disclose for governance credibility, not valuation protection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Focus on COMPLETENESS of disclosure, not raw speed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Timing is governance signal to stakeholders, not market signal to investors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Limitations &amp; Scope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Sample: FCC firms 2x larger; size controls address this, but parallel trends may fail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Scope: Evidence is shareholder returns ONLY; consumer protection beyond scope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Timing windows: 30/90/180-day governance windows may miss longer-run effects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Public firms only: Results don't generalize to private company dynamics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Despite limitations: Three-essay design + natural experiment + 27+ robustness tests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Five Main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1. MARKETS: Disclosure timing irrelevant; firm characteristics drive returns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2. UNCERTAINTY: Mandatory speed increases volatility through quality tradeoff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3. GOVERNANCE: Regulation accelerates governance response via stakeholder pressure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4. POLICY: Current 7-day rule creates costs without valuation benefits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5. THEORY: Information asymmetry requires quality, not just speed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Interactive Dashboard: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15-page Streamlit application with all detailed evidence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Filter by: FCC status, firm size, breach type, disclosure timing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Pages 1−3: Context, Natural Experiment, Sample Validation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Pages 4−6: Essay results with tables and confidence intervals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Pages 7−11: Robustness, heterogeneous effects, conclusions, data explorer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F81BD"/>
                </a:solidFill>
              </a:defRPr>
            </a:pPr>
            <a:r>
              <a:t>Exploring the Dashboard Together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